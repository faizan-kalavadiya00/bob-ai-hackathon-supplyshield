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5F8FC"/>
                </a:solidFill>
                <a:latin typeface="Aptos"/>
              </a:rPr>
              <a:t>SUPPLYSHIELD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28924"/>
                </a:solidFill>
                <a:latin typeface="Aptos"/>
              </a:rPr>
              <a:t>AI Supply Chain Resilience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4B2C5"/>
                </a:solidFill>
                <a:latin typeface="Aptos"/>
              </a:rPr>
              <a:t>From disruption detection to quantified resilience, recovery decisions, human approval and auditability.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173736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3E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37353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3EC2D2"/>
                </a:solidFill>
                <a:latin typeface="Aptos"/>
              </a:rPr>
              <a:t>DETECT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703320"/>
            <a:ext cx="173736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F28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37353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8924"/>
                </a:solidFill>
                <a:latin typeface="Aptos"/>
              </a:rPr>
              <a:t>UNDERSTAND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703320"/>
            <a:ext cx="173736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F5B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37353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BE42"/>
                </a:solidFill>
                <a:latin typeface="Aptos"/>
              </a:rPr>
              <a:t>QUANTIFY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399" y="3703320"/>
            <a:ext cx="173736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1" y="37353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EB5B5B"/>
                </a:solidFill>
                <a:latin typeface="Aptos"/>
              </a:rPr>
              <a:t>SIMULATE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703320"/>
            <a:ext cx="173736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4DC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735324"/>
            <a:ext cx="15910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DC48C"/>
                </a:solidFill>
                <a:latin typeface="Aptos"/>
              </a:rPr>
              <a:t>RECOVER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IBM BOB AI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4B2C5"/>
                </a:solidFill>
                <a:latin typeface="Aptos"/>
              </a:rPr>
              <a:t>Team SupplyShield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EC2D2"/>
                </a:solidFill>
                <a:latin typeface="Aptos"/>
              </a:rPr>
              <a:t>github.com/faizan-kalavadiya00/bob-ai-hackathon-supplyshield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A disruption is easy to detect. The hard part is knowing what it will break next — and what to do about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257800" cy="448056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8924"/>
                </a:solidFill>
                <a:latin typeface="Aptos"/>
              </a:rPr>
              <a:t>Today’s operational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526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Incident data is fragmented across routes, shipments, capacity and cargo conditions.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A single risk score rarely explains where resilience is being consumed.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Teams need fast, defensible answers before committing costly recovery actions.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High-impact decisions still need human governance and traceability.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440680" cy="448056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190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EC2D2"/>
                </a:solidFill>
                <a:latin typeface="Aptos"/>
              </a:rPr>
              <a:t>The decision we want to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7091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8FC"/>
                </a:solidFill>
                <a:latin typeface="Aptos"/>
              </a:rPr>
              <a:t>“A major disruption just happened.
What is exposed, how much resilience is left,
and what should we do next?”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60520"/>
            <a:ext cx="2240280" cy="713232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4297680"/>
            <a:ext cx="1911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5B5B"/>
                </a:solidFill>
                <a:latin typeface="Aptos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4818888"/>
            <a:ext cx="1911096" cy="-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What is affected?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160520"/>
            <a:ext cx="2240280" cy="713232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4297680"/>
            <a:ext cx="1911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BE42"/>
                </a:solidFill>
                <a:latin typeface="Aptos"/>
              </a:rP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4818888"/>
            <a:ext cx="1911096" cy="-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What is being depleted?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2240280" cy="713232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5166360"/>
            <a:ext cx="1911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DC48C"/>
                </a:solidFill>
                <a:latin typeface="Aptos"/>
              </a:rP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687568"/>
            <a:ext cx="1911096" cy="-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What action helps most?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5029200"/>
            <a:ext cx="2240280" cy="713232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5166360"/>
            <a:ext cx="19110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C2D2"/>
                </a:solidFill>
                <a:latin typeface="Apto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5687568"/>
            <a:ext cx="1911096" cy="-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Who approved it?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 —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SupplyShield turns disruption response into a closed-loop resilience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EC2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Active 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1991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8608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2892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DNA + similarity + cascade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BE4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Quantify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RRI + Resilience Wallet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B5B5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Simulate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What-if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5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2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DC48C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Ranked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651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95560" y="1828800"/>
            <a:ext cx="1691640" cy="2148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19933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EC2D2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395728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Govern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2926080"/>
            <a:ext cx="1417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2C5"/>
                </a:solidFill>
                <a:latin typeface="Aptos"/>
              </a:rPr>
              <a:t>Human approval + audit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526280"/>
            <a:ext cx="10835640" cy="1051560"/>
          </a:xfrm>
          <a:prstGeom prst="roundRect">
            <a:avLst/>
          </a:prstGeom>
          <a:solidFill>
            <a:srgbClr val="18263A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548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8924"/>
                </a:solidFill>
                <a:latin typeface="Aptos"/>
              </a:rPr>
              <a:t>Core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681728"/>
            <a:ext cx="9006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Deterministic business logic is the source of truth for metrics; optional IBM watsonx.ai adds explanation — never fabricated numbers.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A typed, modular architecture keeps operational metrics explainable and the AI layer safely isolated.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20240" cy="9144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47672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EC2D2"/>
                </a:solidFill>
                <a:latin typeface="Aptos"/>
              </a:rPr>
              <a:t>Operations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58568"/>
            <a:ext cx="1700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4B2C5"/>
                </a:solidFill>
                <a:latin typeface="Aptos"/>
              </a:rPr>
              <a:t>React 18
TypeScript • Vite • Tailwind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1920240" cy="9144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947672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8924"/>
                </a:solidFill>
                <a:latin typeface="Aptos"/>
              </a:rPr>
              <a:t>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2258568"/>
            <a:ext cx="1700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4B2C5"/>
                </a:solidFill>
                <a:latin typeface="Aptos"/>
              </a:rPr>
              <a:t>FastAPI
Pydantic •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28800"/>
            <a:ext cx="1920240" cy="9144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947672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BE42"/>
                </a:solidFill>
                <a:latin typeface="Aptos"/>
              </a:rPr>
              <a:t>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258568"/>
            <a:ext cx="1700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4B2C5"/>
                </a:solidFill>
                <a:latin typeface="Aptos"/>
              </a:rPr>
              <a:t>RRI • Wallet • DNA
Similarity • Cascade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828800"/>
            <a:ext cx="1920240" cy="9144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947672"/>
            <a:ext cx="17007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DC48C"/>
                </a:solidFill>
                <a:latin typeface="Aptos"/>
              </a:rPr>
              <a:t>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58568"/>
            <a:ext cx="17007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4B2C5"/>
                </a:solidFill>
                <a:latin typeface="Aptos"/>
              </a:rPr>
              <a:t>System of record
Operational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07568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7568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75688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2892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3337560"/>
            <a:ext cx="4663440" cy="1051560"/>
          </a:xfrm>
          <a:prstGeom prst="roundRect">
            <a:avLst/>
          </a:prstGeom>
          <a:solidFill>
            <a:srgbClr val="18263A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52958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8924"/>
                </a:solidFill>
                <a:latin typeface="Aptos"/>
              </a:rPr>
              <a:t>Optional IBM watsonx.ai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456432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2C5"/>
                </a:solidFill>
                <a:latin typeface="Aptos"/>
              </a:rPr>
              <a:t>Natural-language operational explanations when credentials are configured; graceful deterministic fallback otherwise.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92040"/>
            <a:ext cx="10058400" cy="73152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8406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EC2D2"/>
                </a:solidFill>
                <a:latin typeface="Aptos"/>
              </a:rPr>
              <a:t>Safety &amp;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503834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Credentials stay server-side • environment-based configuration • source-aware metrics • decision support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 —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Six operational modules complete the journey beyond the original disruption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EC2D2"/>
                </a:solidFill>
                <a:latin typeface="Aptos"/>
              </a:rPr>
              <a:t>RESILIENCE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671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TIME • COST • TEMPERATURE •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8924"/>
                </a:solidFill>
                <a:latin typeface="Aptos"/>
              </a:rPr>
              <a:t>FLEET &amp;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Risk-weighted route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4320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0992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E42"/>
                </a:solidFill>
                <a:latin typeface="Aptos"/>
              </a:rPr>
              <a:t>COLD 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67128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Sensor readings + breach 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67588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5B5B"/>
                </a:solidFill>
                <a:latin typeface="Aptos"/>
              </a:rPr>
              <a:t>SIMULATION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133087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BEFORE vs AFTER disruption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0916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67588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DC48C"/>
                </a:solidFill>
                <a:latin typeface="Aptos"/>
              </a:rPr>
              <a:t>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133087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Ranked actions by resilience improvement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0916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74720"/>
            <a:ext cx="3429000" cy="16002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675887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EC2D2"/>
                </a:solidFill>
                <a:latin typeface="Aptos"/>
              </a:rPr>
              <a:t>APPROVAL +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33087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Human-in-loop governance + traceability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09160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2C5"/>
                </a:solidFill>
                <a:latin typeface="Aptos"/>
              </a:rPr>
              <a:t>Operational • explainable • seeded for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 — Hero Demo: Mumbai Port Crisis → S-1042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One scenario demonstrates the complete decision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794760" cy="452628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B5B5B"/>
                </a:solidFill>
                <a:latin typeface="Aptos"/>
              </a:rPr>
              <a:t>MUMBAI PORT CRISIS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12848"/>
            <a:ext cx="169164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EB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44852"/>
            <a:ext cx="154533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EB5B5B"/>
                </a:solidFill>
                <a:latin typeface="Aptos"/>
              </a:rPr>
              <a:t>ACTIVE DISRUPTION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8924"/>
                </a:solidFill>
                <a:latin typeface="Aptos"/>
              </a:rPr>
              <a:t>Disruption DNA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Explainable fingerprint + historical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39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8924"/>
                </a:solidFill>
                <a:latin typeface="Aptos"/>
              </a:rPr>
              <a:t>Cascade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96512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Affected shipments → route exposure → financial exposure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EC2D2"/>
                </a:solidFill>
                <a:latin typeface="Aptos"/>
              </a:rPr>
              <a:t>Decision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3951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8FC"/>
                </a:solidFill>
                <a:latin typeface="Aptos"/>
              </a:rPr>
              <a:t>S-1042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417320"/>
            <a:ext cx="6949440" cy="452628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3736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EC2D2"/>
                </a:solidFill>
                <a:latin typeface="Aptos"/>
              </a:rPr>
              <a:t>WHY IS S-1042 VULNERABLE?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331720"/>
            <a:ext cx="2606040" cy="6858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468879"/>
            <a:ext cx="2276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8924"/>
                </a:solidFill>
                <a:latin typeface="Aptos"/>
              </a:rPr>
              <a:t>RRI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990087"/>
            <a:ext cx="2276856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Resilience remaining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2331720"/>
            <a:ext cx="2606040" cy="6858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468879"/>
            <a:ext cx="2276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C2D2"/>
                </a:solidFill>
                <a:latin typeface="Aptos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990087"/>
            <a:ext cx="2276856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Buffer / delay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3200400"/>
            <a:ext cx="2606040" cy="6858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3337560"/>
            <a:ext cx="2276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5BE42"/>
                </a:solidFill>
                <a:latin typeface="Aptos"/>
              </a:rP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3858768"/>
            <a:ext cx="2276856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Financial resilience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00400"/>
            <a:ext cx="2606040" cy="6858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3337560"/>
            <a:ext cx="2276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5B5B"/>
                </a:solidFill>
                <a:latin typeface="Aptos"/>
              </a:rPr>
              <a:t>TEMP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3858768"/>
            <a:ext cx="2276856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Cargo condition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069079"/>
            <a:ext cx="2606040" cy="68580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206240"/>
            <a:ext cx="2276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DC48C"/>
                </a:solidFill>
                <a:latin typeface="Aptos"/>
              </a:rPr>
              <a:t>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727447"/>
            <a:ext cx="2276856" cy="-91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Available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07492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Then: simulate → recover → approve →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553212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The product moves from “what happened?” to “what should we do next?”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 — IBM Technology &amp; Responsible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AI is used where it adds value — explanation and decision context — while core metrics remain deterministic.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452628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28924"/>
                </a:solidFill>
                <a:latin typeface="Aptos"/>
              </a:rPr>
              <a:t>IBM watsonx.ai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Optional explanation layer connected from the FastAPI backend.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Receives structured operational facts from the SupplyShield engine.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Generates natural-language insight for disruptions and recovery context.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Gracefully disables when credentials are absent.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66360"/>
            <a:ext cx="2057400" cy="310896"/>
          </a:xfrm>
          <a:prstGeom prst="roundRect">
            <a:avLst/>
          </a:prstGeom>
          <a:solidFill>
            <a:srgbClr val="18263A"/>
          </a:solidFill>
          <a:ln w="12700">
            <a:solidFill>
              <a:srgbClr val="F289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198364"/>
            <a:ext cx="1911095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8924"/>
                </a:solidFill>
                <a:latin typeface="Aptos"/>
              </a:rPr>
              <a:t>AI ≠ SOURCE OF TRUTH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DC48C"/>
                </a:solidFill>
                <a:latin typeface="Aptos"/>
              </a:rPr>
              <a:t>Engineering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331720"/>
            <a:ext cx="2103120" cy="96012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2468879"/>
            <a:ext cx="17739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DC48C"/>
                </a:solidFill>
                <a:latin typeface="Aptos"/>
              </a:rPr>
              <a:t>196+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2990087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Backend tests passing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331720"/>
            <a:ext cx="2103120" cy="96012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2468879"/>
            <a:ext cx="17739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EC2D2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990087"/>
            <a:ext cx="177393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2C5"/>
                </a:solidFill>
                <a:latin typeface="Aptos"/>
              </a:rPr>
              <a:t>TypeScript/build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Designed for demo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389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Seeded operational data for repeatable scenarios.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Human approval before high-impact decisions.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Audit trail records operational state changes.</a:t>
            </a:r>
          </a:p>
          <a:p>
            <a:pPr>
              <a:spcAft>
                <a:spcPts val="500"/>
              </a:spcAft>
              <a:defRPr sz="1350">
                <a:solidFill>
                  <a:srgbClr val="F5F8FC"/>
                </a:solidFill>
                <a:latin typeface="Aptos"/>
              </a:defRPr>
            </a:pPr>
            <a:r>
              <a:t>• No external logistics action is falsely claimed.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 — Impact &amp;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5"/>
                </a:solidFill>
                <a:latin typeface="Aptos"/>
              </a:rPr>
              <a:t>From hackathon prototype to a production resilience control tower.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434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28924"/>
                </a:solidFill>
                <a:latin typeface="Aptos"/>
              </a:rPr>
              <a:t>Potential operational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26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Shorten the path from disruption signal to defensible action.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Make resilience consumption visible across time, cost, temperature and capacity.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Evaluate recovery choices before committing resources.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Keep humans in control of high-impact decisions.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Create a traceable operational record for every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349240" cy="4434840"/>
          </a:xfrm>
          <a:prstGeom prst="roundRect">
            <a:avLst/>
          </a:prstGeom>
          <a:solidFill>
            <a:srgbClr val="121D2E"/>
          </a:solidFill>
          <a:ln w="10160">
            <a:solidFill>
              <a:srgbClr val="33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3EC2D2"/>
                </a:solidFill>
                <a:latin typeface="Aptos"/>
              </a:rPr>
              <a:t>Scale beyond the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Live shipment / IoT / carrier integrations.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Authentication, roles and enterprise governance.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Production observability and asynchronous ingestion.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Scenario libraries and automated resilience playbooks.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Broader IBM Cloud / watsonx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SUPPLYSHIELD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9893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1">
                <a:solidFill>
                  <a:srgbClr val="F28924"/>
                </a:solidFill>
                <a:latin typeface="Aptos"/>
              </a:rPr>
              <a:t>Detect • Understand • Quantify • Simulate • Recover •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4B2C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